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CareQueue and the goal: take a real clinic app from code to cloud with a full DevOps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clinic's front desk: bookings, tokens and a live waiting-room queue, with the rules enforced by the API and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stack layer by layer, from the app to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developer pushes to GitHub, Actions tests/scans/builds, images go to GHCR by SHA. Argo CD watches the repo and syncs the Helm chart into the cluster. Terraform provisions VPC + EKS. Prometheus scrapes the backend, Grafana visualises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 API under /api plus health, readiness and metrics endpoints. 52 backend tests at 96% coverage, 11 frontend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non-root images; frontend is multi-stage; compose brings the full stack up on localhost:3000.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jobs. Three parallel quality gates, then a docker matrix that builds, scans with Trivy and pushes by SHA, then a compose end-to-end test and a deploy to kind with Helm that checks the running 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Trivy gates both images on fixable HIGH/CRITICAL; gitleaks scans tree and history; bandit, pip-audit and npm audit check code and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Terraform VPC with two public subnets plus EKS 1.36 and a managed node group in ap-south-1. Applied for real, verified, then destroyed.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Helm chart deploys everything: two replicas each, ingress routing, autoscaling, probes and Postgres as a StatefulSet.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Argo CD watches the GitHub repo and keeps namespace carequeue in sync with the Helm chart. Automated sync and self-heal.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 exposes /metrics; a ServiceMonitor makes Prometheus scrape every backend pod; 3 alert rules; Grafana dashboard with 15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faults broken on purpose on a real cluster, each with symptom, investigation, root cause, fix and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worked and what I learned, plus honest limitations of the lab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CareQueue: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Clinic Appointments &amp; Patient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CCCCFF"/>
                </a:solidFill>
                <a:latin typeface="Calibri"/>
              </a:rPr>
              <a:t>DevOps capstone: from code to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Rudhar Bajaj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9C0E6"/>
                </a:solidFill>
                <a:latin typeface="Courier New"/>
              </a:rPr>
              <a:t>github.com/rudhar07/carequeue-clinic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8387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8827" y="5074920"/>
            <a:ext cx="14610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6996" y="5074920"/>
            <a:ext cx="6736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Trivy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7764" y="5074920"/>
            <a:ext cx="19309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Terraform + AWS 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5832" y="5074920"/>
            <a:ext cx="17912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Kubernetes + Helm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4199" y="5074920"/>
            <a:ext cx="914908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Argo CD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6268" y="5074920"/>
            <a:ext cx="2032507" cy="457200"/>
          </a:xfrm>
          <a:prstGeom prst="roundRect">
            <a:avLst>
              <a:gd name="adj" fmla="val 50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500">
                <a:solidFill>
                  <a:srgbClr val="CCCCFF"/>
                </a:solidFill>
                <a:latin typeface="Calibri"/>
              </a:rPr>
              <a:t>Prometheus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problem and what CareQueue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Problem: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a small outpatient clinic's front desk needs bookings and a waiting room that stay in order</a:t>
            </a:r>
          </a:p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Booking: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patients go into a doctor's time-slot grid</a:t>
            </a:r>
          </a:p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Tokens: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every booking gets a per-day token number</a:t>
            </a:r>
          </a:p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Live queue: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check in → call in → complete; now serving and next up</a:t>
            </a:r>
          </a:p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No double booking: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409, backed by a partial unique index; past or off-grid slots: 422</a:t>
            </a:r>
          </a:p>
          <a:p>
            <a:pPr algn="l" marL="274320" indent="-274320">
              <a:spcAft>
                <a:spcPts val="10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One patient per doctor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in consultation; status changes validated</a:t>
            </a:r>
          </a:p>
        </p:txBody>
      </p:sp>
      <p:pic>
        <p:nvPicPr>
          <p:cNvPr id="6" name="Picture 5" descr="02-live-queue-now-serving-0-0-1366-1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532120" cy="4171364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3774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React 18 + Vite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FastAPI · Python 3.13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SQLAlchemy 2 · Alembic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PostgreSQL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3774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Docker, non-root images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Multi-stage frontend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Docker Compose (:3000)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CI/CD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3774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GitHub Actions, 7 jobs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GHCR, commit-SHA tags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Trivy · Gitleaks · Bandit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pip-audit · npm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IaC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011680"/>
            <a:ext cx="23774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Terraform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AWS VPC + EKS 1.36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terraform-aws-modules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Region ap-south-1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319272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Helm chart helm/carequeue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ingress-nginx · HPA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metrics-server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kind (local + CI) / 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9684" y="384048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2564" y="397764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GitOps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2564" y="4480560"/>
            <a:ext cx="3319272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Argo CD Application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Git as source of truth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Auto-sync + self-heal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384048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93607" y="397764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CCCFF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480560"/>
            <a:ext cx="3319272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kube-prometheus-stack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Prometheus + Alertmanager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Grafana, 15-panel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82880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Developer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git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25880"/>
            <a:ext cx="201168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GitHub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code + Helm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GitHub Actions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7 jobs: tests, scans, Trivy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325880"/>
            <a:ext cx="283464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GHCR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images tagged by commit SHA</a:t>
            </a:r>
          </a:p>
        </p:txBody>
      </p: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2286000" y="1760220"/>
            <a:ext cx="64008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 flipV="1">
            <a:off x="4937760" y="1760220"/>
            <a:ext cx="64008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8229600" y="1760220"/>
            <a:ext cx="64008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69748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22113C"/>
          </a:solidFill>
          <a:ln w="15875">
            <a:solidFill>
              <a:srgbClr val="B3A4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63240" y="2743200"/>
            <a:ext cx="5212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Kubernetes</a:t>
            </a:r>
            <a:r>
              <a:rPr sz="1300" b="0" i="0">
                <a:solidFill>
                  <a:srgbClr val="C9C0E6"/>
                </a:solidFill>
                <a:latin typeface="Calibri"/>
              </a:rPr>
              <a:t>  ·  namespace carequeue  ·  kind (local, CI) / 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160520"/>
            <a:ext cx="146304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Ingress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nginx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154680"/>
            <a:ext cx="19202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frontend ×2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nginx + 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206240"/>
            <a:ext cx="19202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backend ×2–6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FastAPI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5257800"/>
            <a:ext cx="19202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StatefulSet + PVC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257800"/>
            <a:ext cx="14630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HPA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backend 2→6</a:t>
            </a:r>
          </a:p>
        </p:txBody>
      </p:sp>
      <p:cxnSp>
        <p:nvCxnSpPr>
          <p:cNvPr id="19" name="Connector 18"/>
          <p:cNvCxnSpPr>
            <a:stCxn id="14" idx="0"/>
            <a:endCxn id="15" idx="1"/>
          </p:cNvCxnSpPr>
          <p:nvPr/>
        </p:nvCxnSpPr>
        <p:spPr>
          <a:xfrm flipV="1">
            <a:off x="3840480" y="3543300"/>
            <a:ext cx="1188720" cy="6172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4" idx="3"/>
            <a:endCxn id="16" idx="1"/>
          </p:cNvCxnSpPr>
          <p:nvPr/>
        </p:nvCxnSpPr>
        <p:spPr>
          <a:xfrm flipV="1">
            <a:off x="4572000" y="4594860"/>
            <a:ext cx="45720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5" idx="2"/>
            <a:endCxn id="16" idx="0"/>
          </p:cNvCxnSpPr>
          <p:nvPr/>
        </p:nvCxnSpPr>
        <p:spPr>
          <a:xfrm flipH="1">
            <a:off x="5989320" y="3931920"/>
            <a:ext cx="0" cy="274320"/>
          </a:xfrm>
          <a:prstGeom prst="line">
            <a:avLst/>
          </a:prstGeom>
          <a:ln w="1587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6" idx="2"/>
            <a:endCxn id="17" idx="0"/>
          </p:cNvCxnSpPr>
          <p:nvPr/>
        </p:nvCxnSpPr>
        <p:spPr>
          <a:xfrm flipH="1">
            <a:off x="5989320" y="4983480"/>
            <a:ext cx="0" cy="2743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572000" y="4965192"/>
            <a:ext cx="475488" cy="475488"/>
          </a:xfrm>
          <a:prstGeom prst="line">
            <a:avLst/>
          </a:prstGeom>
          <a:ln w="22225">
            <a:solidFill>
              <a:srgbClr val="8BE3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35844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CCCFF"/>
                </a:solidFill>
                <a:latin typeface="Calibri"/>
              </a:rPr>
              <a:t>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793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CCCCFF"/>
                </a:solidFill>
                <a:latin typeface="Calibri"/>
              </a:rPr>
              <a:t>/api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4206240"/>
            <a:ext cx="28346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Prometheus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ServiceMonitor → /metrics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257800"/>
            <a:ext cx="2834640" cy="777240"/>
          </a:xfrm>
          <a:prstGeom prst="roundRect">
            <a:avLst>
              <a:gd name="adj" fmla="val 21176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Grafana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15-panel dashboard</a:t>
            </a:r>
          </a:p>
        </p:txBody>
      </p:sp>
      <p:cxnSp>
        <p:nvCxnSpPr>
          <p:cNvPr id="28" name="Connector 27"/>
          <p:cNvCxnSpPr>
            <a:stCxn id="26" idx="1"/>
            <a:endCxn id="16" idx="3"/>
          </p:cNvCxnSpPr>
          <p:nvPr/>
        </p:nvCxnSpPr>
        <p:spPr>
          <a:xfrm flipH="1" flipV="1">
            <a:off x="6949440" y="4594860"/>
            <a:ext cx="1920240" cy="0"/>
          </a:xfrm>
          <a:prstGeom prst="line">
            <a:avLst/>
          </a:prstGeom>
          <a:ln w="22225">
            <a:solidFill>
              <a:srgbClr val="8BE3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7" idx="0"/>
            <a:endCxn id="26" idx="2"/>
          </p:cNvCxnSpPr>
          <p:nvPr/>
        </p:nvCxnSpPr>
        <p:spPr>
          <a:xfrm flipH="1" flipV="1">
            <a:off x="10287000" y="4983480"/>
            <a:ext cx="0" cy="274320"/>
          </a:xfrm>
          <a:prstGeom prst="line">
            <a:avLst/>
          </a:prstGeom>
          <a:ln w="22225">
            <a:solidFill>
              <a:srgbClr val="8BE3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95160" y="43159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8BE3B0"/>
                </a:solidFill>
                <a:latin typeface="Calibri"/>
              </a:rPr>
              <a:t>scrapes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001000" y="2194560"/>
            <a:ext cx="2286000" cy="5029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0" y="2542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CCCFF"/>
                </a:solidFill>
                <a:latin typeface="Calibri"/>
              </a:rPr>
              <a:t>image:&lt;sha&gt; pulled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154680"/>
            <a:ext cx="2011680" cy="914400"/>
          </a:xfrm>
          <a:prstGeom prst="roundRect">
            <a:avLst>
              <a:gd name="adj" fmla="val 18000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Argo CD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auto-sync + self-heal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463040" y="2194560"/>
            <a:ext cx="2468880" cy="960120"/>
          </a:xfrm>
          <a:prstGeom prst="line">
            <a:avLst/>
          </a:prstGeom>
          <a:ln w="22225">
            <a:solidFill>
              <a:srgbClr val="8BE3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24505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BE3B0"/>
                </a:solidFill>
                <a:latin typeface="Calibri"/>
              </a:rPr>
              <a:t>watches Git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68880" y="3611880"/>
            <a:ext cx="457200" cy="0"/>
          </a:xfrm>
          <a:prstGeom prst="line">
            <a:avLst/>
          </a:prstGeom>
          <a:ln w="22225">
            <a:solidFill>
              <a:srgbClr val="8BE3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114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BE3B0"/>
                </a:solidFill>
                <a:latin typeface="Calibri"/>
              </a:rPr>
              <a:t>syncs helm/carequeue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257800"/>
            <a:ext cx="2011680" cy="914400"/>
          </a:xfrm>
          <a:prstGeom prst="roundRect">
            <a:avLst>
              <a:gd name="adj" fmla="val 180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Terraform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VPC + EKS, ap-south-1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68880" y="5715000"/>
            <a:ext cx="45720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Application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783080" cy="1508760"/>
          </a:xfrm>
          <a:prstGeom prst="roundRect">
            <a:avLst>
              <a:gd name="adj" fmla="val 7272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7830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CCCCFF"/>
                </a:solidFill>
                <a:latin typeface="Calibr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7830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pytest tests,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all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371600"/>
            <a:ext cx="1783080" cy="1508760"/>
          </a:xfrm>
          <a:prstGeom prst="roundRect">
            <a:avLst>
              <a:gd name="adj" fmla="val 7272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600" y="1417320"/>
            <a:ext cx="17830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CCCCFF"/>
                </a:solidFill>
                <a:latin typeface="Calibri"/>
              </a:rP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7830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backend coverage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(80% gate)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1783080" cy="1508760"/>
          </a:xfrm>
          <a:prstGeom prst="roundRect">
            <a:avLst>
              <a:gd name="adj" fmla="val 7272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17830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CCCCFF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17830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Vitest frontend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tests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54680"/>
          <a:ext cx="5715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02336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CCC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91440" anchor="ctr">
                    <a:solidFill>
                      <a:srgbClr val="2A1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CCCFF"/>
                          </a:solidFill>
                          <a:latin typeface="Calibri"/>
                        </a:rPr>
                        <a:t>Main endpoints</a:t>
                      </a:r>
                    </a:p>
                  </a:txBody>
                  <a:tcPr marL="91440" anchor="ctr">
                    <a:solidFill>
                      <a:srgbClr val="2A17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/api/doctors · /{id} · /{id}/slots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/api/patients (?q= search) · /{id}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Appointments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/api/appointments · PATCH /{id}/status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Queue &amp; stats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/api/queue · /api/stats/today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/health · /ready · /metrics · /api/info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07-terminal-pytest-v-passing-0-1640-860-19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71600"/>
            <a:ext cx="5074920" cy="1675903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629400" y="3102367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pytest -v: 52 passed, total coverage 96.12%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507492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Tests run on in-memory SQLite, never the real database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Business rules covered: 409 double booking, 422 past or off-grid slots, status machine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A failing test or coverage under 80% fails the CI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Backend: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python:3.13-slim pinned by digest, runs as uid 10001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900" b="1" i="0">
                <a:solidFill>
                  <a:srgbClr val="CCCCFF"/>
                </a:solidFill>
                <a:latin typeface="Calibri"/>
              </a:rPr>
              <a:t>Frontend: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multi-stage, node:24-alpine build → nginx-unprivileged (uid 101)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nginx serves the React app and proxies /api to the backend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Healthchecks; GIT_SHA baked in at build time → /api/info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700" b="0" i="0">
                <a:solidFill>
                  <a:srgbClr val="CCCCFF"/>
                </a:solidFill>
                <a:latin typeface="Courier New"/>
              </a:rPr>
              <a:t>docker compose up --build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→ UI on localhost:3000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66360"/>
            <a:ext cx="150876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PostgreSQL 17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healthy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5166360"/>
            <a:ext cx="178308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migrate + seed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16636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/>
            <a:r>
              <a:rPr sz="1300">
                <a:solidFill>
                  <a:srgbClr val="C9C0E6"/>
                </a:solidFill>
                <a:latin typeface="Calibri"/>
              </a:rPr>
              <a:t>:3000</a:t>
            </a:r>
          </a:p>
        </p:txBody>
      </p:sp>
      <p:cxnSp>
        <p:nvCxnSpPr>
          <p:cNvPr id="9" name="Connector 8"/>
          <p:cNvCxnSpPr>
            <a:stCxn id="6" idx="3"/>
            <a:endCxn id="7" idx="1"/>
          </p:cNvCxnSpPr>
          <p:nvPr/>
        </p:nvCxnSpPr>
        <p:spPr>
          <a:xfrm flipV="1">
            <a:off x="2057400" y="5600700"/>
            <a:ext cx="36576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7" idx="3"/>
            <a:endCxn id="8" idx="1"/>
          </p:cNvCxnSpPr>
          <p:nvPr/>
        </p:nvCxnSpPr>
        <p:spPr>
          <a:xfrm flipV="1">
            <a:off x="4206240" y="5600700"/>
            <a:ext cx="36576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8-compose-localhost-3000-live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49240" cy="3714750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55080" y="515950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docker compose: live queue at http://localhost:3000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CI/CD pipeline: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017520" cy="640080"/>
          </a:xfrm>
          <a:prstGeom prst="roundRect">
            <a:avLst>
              <a:gd name="adj" fmla="val 25714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 tests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pytest, coverage ≥ 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017520" cy="640080"/>
          </a:xfrm>
          <a:prstGeom prst="roundRect">
            <a:avLst>
              <a:gd name="adj" fmla="val 25714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 tests + build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vitest, vite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017520" cy="640080"/>
          </a:xfrm>
          <a:prstGeom prst="roundRect">
            <a:avLst>
              <a:gd name="adj" fmla="val 25714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Code security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gitleaks, bandit, pip-audit, npm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3258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22113C"/>
          </a:solidFill>
          <a:ln w="15875">
            <a:solidFill>
              <a:srgbClr val="B3A4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06240" y="13533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matrix: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200400" cy="731520"/>
          </a:xfrm>
          <a:prstGeom prst="roundRect">
            <a:avLst>
              <a:gd name="adj" fmla="val 22499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Docker backend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build → Trivy gate → push :sha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514600"/>
            <a:ext cx="3200400" cy="731520"/>
          </a:xfrm>
          <a:prstGeom prst="roundRect">
            <a:avLst>
              <a:gd name="adj" fmla="val 22499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Docker frontend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build → Trivy gate → push :sha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520440" cy="731520"/>
          </a:xfrm>
          <a:prstGeom prst="roundRect">
            <a:avLst>
              <a:gd name="adj" fmla="val 22499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Compose end-to-end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booking flow through nginx :3000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514600"/>
            <a:ext cx="3520440" cy="731520"/>
          </a:xfrm>
          <a:prstGeom prst="roundRect">
            <a:avLst>
              <a:gd name="adj" fmla="val 22499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Deploy to Kubernetes</a:t>
            </a:r>
          </a:p>
          <a:p>
            <a:pPr algn="ctr"/>
            <a:r>
              <a:rPr sz="1200">
                <a:solidFill>
                  <a:srgbClr val="C9C0E6"/>
                </a:solidFill>
                <a:latin typeface="Calibri"/>
              </a:rPr>
              <a:t>kind + Helm, helm test, SHA check</a:t>
            </a:r>
          </a:p>
        </p:txBody>
      </p:sp>
      <p:cxnSp>
        <p:nvCxnSpPr>
          <p:cNvPr id="14" name="Connector 13"/>
          <p:cNvCxnSpPr>
            <a:stCxn id="5" idx="3"/>
            <a:endCxn id="8" idx="1"/>
          </p:cNvCxnSpPr>
          <p:nvPr/>
        </p:nvCxnSpPr>
        <p:spPr>
          <a:xfrm>
            <a:off x="3566160" y="1645920"/>
            <a:ext cx="502920" cy="7315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6" idx="3"/>
            <a:endCxn id="8" idx="1"/>
          </p:cNvCxnSpPr>
          <p:nvPr/>
        </p:nvCxnSpPr>
        <p:spPr>
          <a:xfrm flipV="1">
            <a:off x="3566160" y="2377440"/>
            <a:ext cx="50292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3"/>
            <a:endCxn id="8" idx="1"/>
          </p:cNvCxnSpPr>
          <p:nvPr/>
        </p:nvCxnSpPr>
        <p:spPr>
          <a:xfrm flipV="1">
            <a:off x="3566160" y="2377440"/>
            <a:ext cx="502920" cy="7315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3"/>
            <a:endCxn id="12" idx="1"/>
          </p:cNvCxnSpPr>
          <p:nvPr/>
        </p:nvCxnSpPr>
        <p:spPr>
          <a:xfrm flipV="1">
            <a:off x="7635240" y="1965960"/>
            <a:ext cx="548639" cy="41148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8" idx="3"/>
            <a:endCxn id="13" idx="1"/>
          </p:cNvCxnSpPr>
          <p:nvPr/>
        </p:nvCxnSpPr>
        <p:spPr>
          <a:xfrm>
            <a:off x="7635240" y="2377440"/>
            <a:ext cx="548639" cy="50292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840480"/>
            <a:ext cx="512064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6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Runs on every push and PR to main, plus manual dispatch</a:t>
            </a:r>
          </a:p>
          <a:p>
            <a:pPr algn="l" marL="274320" indent="-274320">
              <a:spcAft>
                <a:spcPts val="6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Any failing test or scan stops it: no push, no deploy</a:t>
            </a:r>
          </a:p>
          <a:p>
            <a:pPr algn="l" marL="274320" indent="-274320">
              <a:spcAft>
                <a:spcPts val="6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Images tagged only with the full commit SHA, never latest</a:t>
            </a:r>
          </a:p>
          <a:p>
            <a:pPr algn="l" marL="274320" indent="-274320">
              <a:spcAft>
                <a:spcPts val="6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Deploy checks /api/info commit == GITHUB_SHA</a:t>
            </a:r>
          </a:p>
          <a:p>
            <a:pPr algn="l" marL="274320" indent="-274320">
              <a:spcAft>
                <a:spcPts val="6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Run on 1c1def4: all 7 jobs green in 3m 23s</a:t>
            </a:r>
          </a:p>
        </p:txBody>
      </p:sp>
      <p:pic>
        <p:nvPicPr>
          <p:cNvPr id="20" name="Picture 19" descr="ci-01-actions-run-green-0-180-1440-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94760"/>
            <a:ext cx="5760719" cy="1920239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943600" y="5769864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Green run in GitHub Actions (7 jobs, matrix: docker)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DevSecOps: security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8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7607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977639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CCC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91440" anchor="ctr">
                    <a:solidFill>
                      <a:srgbClr val="2A1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CCC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91440" anchor="ctr">
                    <a:solidFill>
                      <a:srgbClr val="2A1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Trivy (image)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Calibri"/>
                        </a:rPr>
                        <a:t>fixable HIGH/CRITICAL fails, both images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Gitleaks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Calibri"/>
                        </a:rPr>
                        <a:t>any secret in files or git history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Bandit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Calibri"/>
                        </a:rPr>
                        <a:t>MEDIUM+ severity and confidence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pip-audit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Calibri"/>
                        </a:rPr>
                        <a:t>any known-vulnerable dependency</a:t>
                      </a:r>
                    </a:p>
                  </a:txBody>
                  <a:tcPr marL="91440" anchor="ctr">
                    <a:solidFill>
                      <a:srgbClr val="1A0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npm audit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Calibri"/>
                        </a:rPr>
                        <a:t>high/critical in production deps</a:t>
                      </a:r>
                    </a:p>
                  </a:txBody>
                  <a:tcPr marL="91440" anchor="ctr">
                    <a:solidFill>
                      <a:srgbClr val="22113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43400"/>
            <a:ext cx="5760720" cy="1874519"/>
          </a:xfrm>
          <a:prstGeom prst="roundRect">
            <a:avLst>
              <a:gd name="adj" fmla="val 5853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5486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8BE3B0"/>
                </a:solidFill>
                <a:latin typeface="Calibri"/>
              </a:rPr>
              <a:t>What Trivy found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0 HIGH/CRITICAL findings with a fix in either image, so the gate passed. The backend's Debian base has HIGH CVEs with no fix yet: reported, not blocking. An old nginx image made the gate exit 1.</a:t>
            </a:r>
          </a:p>
        </p:txBody>
      </p:sp>
      <p:pic>
        <p:nvPicPr>
          <p:cNvPr id="8" name="Picture 7" descr="ci-03-trivy-step-frontend-262-1195-1172-1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5029200" cy="1132951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75120" y="249540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Pipeline Trivy gate: frontend image (alpine), 0 vulnerabilities</a:t>
            </a:r>
          </a:p>
        </p:txBody>
      </p:sp>
      <p:pic>
        <p:nvPicPr>
          <p:cNvPr id="10" name="Picture 9" descr="ci-03-trivy-step-backend-262-1235-1235-1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788920"/>
            <a:ext cx="5029200" cy="1369720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75120" y="419521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Pipeline Trivy gate: backend image (debian), 0 fixable HIGH/CRITICAL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572000"/>
            <a:ext cx="5029200" cy="1645920"/>
          </a:xfrm>
          <a:prstGeom prst="roundRect">
            <a:avLst>
              <a:gd name="adj" fmla="val 6666"/>
            </a:avLst>
          </a:prstGeom>
          <a:solidFill>
            <a:srgbClr val="22113C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0" y="4636008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CCCFF"/>
                </a:solidFill>
                <a:latin typeface="Calibri"/>
              </a:rPr>
              <a:t>The gate step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trivy image --severity HIGH,CRITICAL --ignore-unfixed --exit-code 1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C0E6"/>
                </a:solidFill>
                <a:latin typeface="Calibri"/>
              </a:rPr>
              <a:t>The pushed image is the exact image that was scanned.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Infrastructure: Terraform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554480" cy="960120"/>
          </a:xfrm>
          <a:prstGeom prst="roundRect">
            <a:avLst>
              <a:gd name="adj" fmla="val 17142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  plan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51 to 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371600"/>
            <a:ext cx="1554480" cy="960120"/>
          </a:xfrm>
          <a:prstGeom prst="roundRect">
            <a:avLst>
              <a:gd name="adj" fmla="val 17142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  apply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2 nodes Ready</a:t>
            </a:r>
          </a:p>
        </p:txBody>
      </p: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 flipV="1">
            <a:off x="2103120" y="1851660"/>
            <a:ext cx="320040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79" y="1371600"/>
            <a:ext cx="1554480" cy="960120"/>
          </a:xfrm>
          <a:prstGeom prst="roundRect">
            <a:avLst>
              <a:gd name="adj" fmla="val 17142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  destroy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51 destroyed</a:t>
            </a:r>
          </a:p>
        </p:txBody>
      </p:sp>
      <p:cxnSp>
        <p:nvCxnSpPr>
          <p:cNvPr id="9" name="Connector 8"/>
          <p:cNvCxnSpPr>
            <a:stCxn id="6" idx="3"/>
            <a:endCxn id="8" idx="1"/>
          </p:cNvCxnSpPr>
          <p:nvPr/>
        </p:nvCxnSpPr>
        <p:spPr>
          <a:xfrm flipV="1">
            <a:off x="3977640" y="1851660"/>
            <a:ext cx="320039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51760"/>
            <a:ext cx="54406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VPC 10.0.0.0/16, 2 public subnets in 2 AZs, internet gateway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EKS 1.36 with 1 managed node group (min 1, max 3)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Real AWS run in ap-south-1 on 2026-10-17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Free plan rejected t3.medium, so the run used m7i-flex.large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fmt, validate, tflint and Trivy config scan all clean</a:t>
            </a:r>
          </a:p>
        </p:txBody>
      </p:sp>
      <p:pic>
        <p:nvPicPr>
          <p:cNvPr id="11" name="Picture 10" descr="aws-02-console-vpc-0-0-2000-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49240" cy="1444294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55080" y="285247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AWS Console: carequeue-eks-vpc, 10.0.0.0/16, Available</a:t>
            </a:r>
          </a:p>
        </p:txBody>
      </p:sp>
      <p:pic>
        <p:nvPicPr>
          <p:cNvPr id="13" name="Picture 12" descr="aws-03-console-eks-cluster-active-0-220-2000-5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00400"/>
            <a:ext cx="5349240" cy="829132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355080" y="40661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EKS cluster carequeue-eks: Active, Kubernetes 1.36</a:t>
            </a:r>
          </a:p>
        </p:txBody>
      </p:sp>
      <p:pic>
        <p:nvPicPr>
          <p:cNvPr id="15" name="Picture 14" descr="aws-05-terminal-terraform-destroy-0-240-1000-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526280"/>
            <a:ext cx="5349240" cy="855878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355080" y="541873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terraform destroy: 51 destroyed, nothing left in ap-south-1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Kubernetes setup: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Helm chart </a:t>
            </a:r>
            <a:r>
              <a:rPr sz="1700" b="0" i="0">
                <a:solidFill>
                  <a:srgbClr val="CCCCFF"/>
                </a:solidFill>
                <a:latin typeface="Courier New"/>
              </a:rPr>
              <a:t>helm/carequeue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: 16 templates, dev + prod values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Backend + frontend Deployments, 2 replicas each, non-root, read-only filesystem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1" i="0">
                <a:solidFill>
                  <a:srgbClr val="CCCCFF"/>
                </a:solidFill>
                <a:latin typeface="Calibri"/>
              </a:rPr>
              <a:t>Ingress: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/ → frontend, /api → backend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1" i="0">
                <a:solidFill>
                  <a:srgbClr val="CCCCFF"/>
                </a:solidFill>
                <a:latin typeface="Calibri"/>
              </a:rPr>
              <a:t>HPA: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backend 2→6, frontend 2→4; load test scaled 2 → 4 → 6 → 2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1" i="0">
                <a:solidFill>
                  <a:srgbClr val="CCCCFF"/>
                </a:solidFill>
                <a:latin typeface="Calibri"/>
              </a:rPr>
              <a:t>Probes: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startup + liveness /health, readiness /ready (checks DB)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PostgreSQL StatefulSet + PVC, migrate/seed Jobs, PDBs, helm test</a:t>
            </a:r>
          </a:p>
        </p:txBody>
      </p:sp>
      <p:pic>
        <p:nvPicPr>
          <p:cNvPr id="6" name="Picture 5" descr="k8s-05-terminal-kubectl-get-p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760720" cy="961722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pic>
        <p:nvPicPr>
          <p:cNvPr id="7" name="Picture 6" descr="k8s-06-terminal-kubectl-get-svc-in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514600"/>
            <a:ext cx="3840480" cy="1141635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pic>
        <p:nvPicPr>
          <p:cNvPr id="8" name="Picture 7" descr="k8s-08-terminal-hpa-scale-up-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840480"/>
            <a:ext cx="3765374" cy="2377440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012680" y="2651760"/>
            <a:ext cx="169164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CCCFF"/>
                </a:solidFill>
                <a:latin typeface="Calibri"/>
              </a:rPr>
              <a:t>kubectl get pods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5/5 Running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CCCFF"/>
                </a:solidFill>
                <a:latin typeface="Calibri"/>
              </a:rPr>
              <a:t>svc + ingress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ClusterIP, host carequeue.local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CCCFF"/>
                </a:solidFill>
                <a:latin typeface="Calibri"/>
              </a:rPr>
              <a:t>HPA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C9C0E6"/>
                </a:solidFill>
                <a:latin typeface="Calibri"/>
              </a:rPr>
              <a:t>scale up and back 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GitOps with Argo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108960" cy="1143000"/>
          </a:xfrm>
          <a:prstGeom prst="roundRect">
            <a:avLst>
              <a:gd name="adj" fmla="val 144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GitHub repo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helm/carequeue (desired state)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1463040"/>
            <a:ext cx="3108960" cy="1143000"/>
          </a:xfrm>
          <a:prstGeom prst="roundRect">
            <a:avLst>
              <a:gd name="adj" fmla="val 14400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Argo CD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Application: carequeue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463040"/>
            <a:ext cx="3108960" cy="1143000"/>
          </a:xfrm>
          <a:prstGeom prst="roundRect">
            <a:avLst>
              <a:gd name="adj" fmla="val 14400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Kubernetes</a:t>
            </a:r>
          </a:p>
          <a:p>
            <a:pPr algn="ctr"/>
            <a:r>
              <a:rPr sz="1400">
                <a:solidFill>
                  <a:srgbClr val="C9C0E6"/>
                </a:solidFill>
                <a:latin typeface="Calibri"/>
              </a:rPr>
              <a:t>namespace carequeue (live state)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029968"/>
            <a:ext cx="886968" cy="0"/>
          </a:xfrm>
          <a:prstGeom prst="line">
            <a:avLst/>
          </a:prstGeom>
          <a:ln w="22225">
            <a:solidFill>
              <a:srgbClr val="8BE3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11880" y="169164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8BE3B0"/>
                </a:solidFill>
                <a:latin typeface="Calibri"/>
              </a:rPr>
              <a:t>pull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53527" y="1828800"/>
            <a:ext cx="941833" cy="0"/>
          </a:xfrm>
          <a:prstGeom prst="line">
            <a:avLst/>
          </a:prstGeom>
          <a:ln w="22225">
            <a:solidFill>
              <a:srgbClr val="CCC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0" y="14813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CCCCFF"/>
                </a:solidFill>
                <a:latin typeface="Calibri"/>
              </a:rPr>
              <a:t>auto-sync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653527" y="2286000"/>
            <a:ext cx="941833" cy="0"/>
          </a:xfrm>
          <a:prstGeom prst="line">
            <a:avLst/>
          </a:prstGeom>
          <a:ln w="22225">
            <a:solidFill>
              <a:srgbClr val="B3A4F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0" y="26700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B3A4F5"/>
                </a:solidFill>
                <a:latin typeface="Calibri"/>
              </a:rPr>
              <a:t>self-heal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63093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1" i="0">
                <a:solidFill>
                  <a:srgbClr val="CCCCFF"/>
                </a:solidFill>
                <a:latin typeface="Calibri"/>
              </a:rPr>
              <a:t>Manifest: </a:t>
            </a:r>
            <a:r>
              <a:rPr sz="1600" b="0" i="0">
                <a:solidFill>
                  <a:srgbClr val="FFFFFF"/>
                </a:solidFill>
                <a:latin typeface="Courier New"/>
              </a:rPr>
              <a:t>gitops/argocd-application.yaml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Git is the source of truth: Argo CD tracks main with values-dev.yaml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Automated sync + prune: chart changes applied, removed resources deleted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Self-heal: manual kubectl edits are reverted to the Git state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Release: set the image tags to the new commit SHA in Git and push; Argo CD rolls it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154680"/>
            <a:ext cx="4526280" cy="3063240"/>
          </a:xfrm>
          <a:prstGeom prst="roundRect">
            <a:avLst>
              <a:gd name="adj" fmla="val 3582"/>
            </a:avLst>
          </a:prstGeom>
          <a:solidFill>
            <a:srgbClr val="22113C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60920" y="3246120"/>
            <a:ext cx="425196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kind: Application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spec: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source: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repoURL: .../carequeue-clinic.git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targetRevision: main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path: helm/carequeue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destination: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namespace: carequeue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syncPolicy: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automated: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  prune: true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CCCFF"/>
                </a:solidFill>
                <a:latin typeface="Courier New"/>
              </a:rPr>
              <a:t>      selfHeal: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8978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excerpt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Observability: Prometheus +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700" b="0" i="0">
                <a:solidFill>
                  <a:srgbClr val="CCCCFF"/>
                </a:solidFill>
                <a:latin typeface="Courier New"/>
              </a:rPr>
              <a:t>/metrics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: request rate, latency, status codes + clinic metrics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e.g. </a:t>
            </a:r>
            <a:r>
              <a:rPr sz="1500" b="0" i="0">
                <a:solidFill>
                  <a:srgbClr val="CCCCFF"/>
                </a:solidFill>
                <a:latin typeface="Courier New"/>
              </a:rPr>
              <a:t>carequeue_queue_waiting{doctor}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ServiceMonitor → Prometheus scrapes every backend pod: 6/6 UP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3 alert rules: backend down, high 5xx rate, long queue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Grafana: 15 panels: rate, p95, errors, bookings, queue, CPU/memory, HPA</a:t>
            </a:r>
          </a:p>
          <a:p>
            <a:pPr algn="l" marL="274320" indent="-274320">
              <a:spcAft>
                <a:spcPts val="8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Installed with kube-prometheus-stack</a:t>
            </a:r>
          </a:p>
        </p:txBody>
      </p:sp>
      <p:pic>
        <p:nvPicPr>
          <p:cNvPr id="6" name="Picture 5" descr="mon-01-prometheus-targets-carequeue-up-0-0-1440-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852160" cy="2194560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760720" y="360273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Prometheus targets: serviceMonitor carequeue-backend, 6/6 up</a:t>
            </a:r>
          </a:p>
        </p:txBody>
      </p:sp>
      <p:pic>
        <p:nvPicPr>
          <p:cNvPr id="8" name="Picture 7" descr="mon-05-grafana-carequeue-dashboard-330-140-1600-6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931920"/>
            <a:ext cx="5458053" cy="2148840"/>
          </a:xfrm>
          <a:prstGeom prst="rect">
            <a:avLst/>
          </a:prstGeom>
          <a:ln w="12700">
            <a:solidFill>
              <a:srgbClr val="B3A4F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760720" y="611733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Grafana: CareQueue Clinic API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Troubleshooting lab: 6 faults, broken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9C0E6"/>
                </a:solidFill>
                <a:latin typeface="Calibri"/>
              </a:rPr>
              <a:t>Each case: symptom → investigate → root cause → fix → verify, on a real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8308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Wrong image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ImagePullBackOff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use a tag that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78308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Wrong DATABASE_URL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Running but 0/1 Ready, /ready 503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correct the host name typo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21040" y="178308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78308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Service selector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no endpoints, 503 at Ingress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restore the selector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Ingress → missing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503 from the Ingress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point at the real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3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16052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No CPU 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4632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HPA targets &lt;unknown&gt;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add requests and limits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7763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A1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C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A0B2E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16052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Wrong liveness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46320"/>
            <a:ext cx="3246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CCFF"/>
                </a:solidFill>
                <a:latin typeface="Calibri"/>
              </a:rPr>
              <a:t>Symptom: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restart loop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BE3B0"/>
                </a:solidFill>
                <a:latin typeface="Calibri"/>
              </a:rPr>
              <a:t>Fix: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helm rollback to last good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Key learnings and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C0E6"/>
                </a:solidFill>
                <a:latin typeface="Calibri"/>
              </a:rPr>
              <a:t>CareQueue  ·  DevOps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4630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1" i="0">
                <a:solidFill>
                  <a:srgbClr val="CCCCFF"/>
                </a:solidFill>
                <a:latin typeface="Calibri"/>
              </a:rPr>
              <a:t>14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2A1748"/>
          </a:solidFill>
          <a:ln w="15875">
            <a:solidFill>
              <a:srgbClr val="8BE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8BE3B0"/>
                </a:solidFill>
                <a:latin typeface="Calibri"/>
              </a:rPr>
              <a:t>Key learnings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834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SHA tags: one image per commit, easy rollback, /api/info proves what runs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Scan the exact image you push; gate only on fixable HIGH/CRITICAL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Readiness must check the DB; HPA needs CPU requests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Read cloud errors closely: the Free plan blocked t3.medium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Always terraform destroy, then verify nothing is left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2A1748"/>
          </a:solidFill>
          <a:ln w="15875">
            <a:solidFill>
              <a:srgbClr val="B3A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B3A4F5"/>
                </a:solidFill>
                <a:latin typeface="Calibri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834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No NAT gateway, nodes in public subnets to save cost (enable_private_subnets for production)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Free-tier node type m7i-flex.large on the AWS run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EKS destroyed after the proof; the always-on demo runs on local kind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Backend base image has unfixed Debian HIGH CVEs (reported, not blocking)</a:t>
            </a:r>
          </a:p>
          <a:p>
            <a:pPr algn="l" marL="274320" indent="-274320">
              <a:spcAft>
                <a:spcPts val="900"/>
              </a:spcAft>
              <a:buClr>
                <a:srgbClr val="B3A4F5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5 Trivy config trade-offs suppressed inline, with reasons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